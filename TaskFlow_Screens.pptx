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rebuilt for phase 4b. The previous version showed the pre-pivot v1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TaskFlow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household chore board — screens from the built app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on the emulator against a running backend on 2 September 2026. Every screen here is the app as it actually builds and runs — no mock-ups.</a:t>
            </a:r>
            <a:endParaRPr lang="en-US" sz="1400" dirty="0"/>
          </a:p>
        </p:txBody>
      </p:sp>
      <p:pic>
        <p:nvPicPr>
          <p:cNvPr id="5" name="Image 0" descr="C:\Users\babak\AppData\Local\Temp\claude\D--0A-study-A0-0-ACSAI-0-sem-4-AI-ML-ML-unit-2\13f11f40-7bf3-4475-bdab-4aadda964c01\scratchpad\shots\04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777240"/>
            <a:ext cx="2377440" cy="528523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926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786384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household, so signing in lands straight on its board. The group list is one Back away.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54380" y="1188720"/>
            <a:ext cx="2286000" cy="4937760"/>
          </a:xfrm>
          <a:prstGeom prst="roundRect">
            <a:avLst>
              <a:gd name="adj" fmla="val 4800"/>
            </a:avLst>
          </a:prstGeom>
          <a:solidFill>
            <a:srgbClr val="F4F5FA"/>
          </a:solidFill>
          <a:ln w="12700">
            <a:solidFill>
              <a:srgbClr val="E4E6F0"/>
            </a:solidFill>
            <a:prstDash val="solid"/>
          </a:ln>
        </p:spPr>
      </p:sp>
      <p:pic>
        <p:nvPicPr>
          <p:cNvPr id="5" name="Image 0" descr="C:\Users\babak\AppData\Local\Temp\claude\D--0A-study-A0-0-ACSAI-0-sem-4-AI-ML-ML-unit-2\13f11f40-7bf3-4475-bdab-4aadda964c01\scratchpad\shots\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53312"/>
            <a:ext cx="2057400" cy="4572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A1B2E">
                <a:alpha val="22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754380" y="6236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4652" y="649224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violet scheme, not the wallpaper's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43300" y="1188720"/>
            <a:ext cx="2286000" cy="4937760"/>
          </a:xfrm>
          <a:prstGeom prst="roundRect">
            <a:avLst>
              <a:gd name="adj" fmla="val 4800"/>
            </a:avLst>
          </a:prstGeom>
          <a:solidFill>
            <a:srgbClr val="F4F5FA"/>
          </a:solidFill>
          <a:ln w="12700">
            <a:solidFill>
              <a:srgbClr val="E4E6F0"/>
            </a:solidFill>
            <a:prstDash val="solid"/>
          </a:ln>
        </p:spPr>
      </p:sp>
      <p:pic>
        <p:nvPicPr>
          <p:cNvPr id="9" name="Image 1" descr="C:\Users\babak\AppData\Local\Temp\claude\D--0A-study-A0-0-ACSAI-0-sem-4-AI-ML-ML-unit-2\13f11f40-7bf3-4475-bdab-4aadda964c01\scratchpad\shots\02-regi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53312"/>
            <a:ext cx="2057400" cy="4572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A1B2E">
                <a:alpha val="22000"/>
              </a:srgbClr>
            </a:outerShdw>
          </a:effectLst>
        </p:spPr>
      </p:pic>
      <p:sp>
        <p:nvSpPr>
          <p:cNvPr id="10" name="Text 6"/>
          <p:cNvSpPr txBox="1"/>
          <p:nvPr/>
        </p:nvSpPr>
        <p:spPr>
          <a:xfrm>
            <a:off x="3543300" y="6236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433572" y="649224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Scrolls clear of the keyboard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332220" y="1188720"/>
            <a:ext cx="2286000" cy="4937760"/>
          </a:xfrm>
          <a:prstGeom prst="roundRect">
            <a:avLst>
              <a:gd name="adj" fmla="val 4800"/>
            </a:avLst>
          </a:prstGeom>
          <a:solidFill>
            <a:srgbClr val="F4F5FA"/>
          </a:solidFill>
          <a:ln w="12700">
            <a:solidFill>
              <a:srgbClr val="E4E6F0"/>
            </a:solidFill>
            <a:prstDash val="solid"/>
          </a:ln>
        </p:spPr>
      </p:sp>
      <p:pic>
        <p:nvPicPr>
          <p:cNvPr id="13" name="Image 2" descr="C:\Users\babak\AppData\Local\Temp\claude\D--0A-study-A0-0-ACSAI-0-sem-4-AI-ML-ML-unit-2\13f11f40-7bf3-4475-bdab-4aadda964c01\scratchpad\shots\03-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53312"/>
            <a:ext cx="2057400" cy="4572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A1B2E">
                <a:alpha val="22000"/>
              </a:srgbClr>
            </a:outerShdw>
          </a:effectLst>
        </p:spPr>
      </p:pic>
      <p:sp>
        <p:nvSpPr>
          <p:cNvPr id="14" name="Text 9"/>
          <p:cNvSpPr txBox="1"/>
          <p:nvPr/>
        </p:nvSpPr>
        <p:spPr>
          <a:xfrm>
            <a:off x="6332220" y="6236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Groups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222492" y="649224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by Back from the board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9121140" y="1188720"/>
            <a:ext cx="2286000" cy="4937760"/>
          </a:xfrm>
          <a:prstGeom prst="roundRect">
            <a:avLst>
              <a:gd name="adj" fmla="val 4800"/>
            </a:avLst>
          </a:prstGeom>
          <a:solidFill>
            <a:srgbClr val="F4F5FA"/>
          </a:solidFill>
          <a:ln w="12700">
            <a:solidFill>
              <a:srgbClr val="E4E6F0"/>
            </a:solidFill>
            <a:prstDash val="solid"/>
          </a:ln>
        </p:spPr>
      </p:sp>
      <p:pic>
        <p:nvPicPr>
          <p:cNvPr id="17" name="Image 3" descr="C:\Users\babak\AppData\Local\Temp\claude\D--0A-study-A0-0-ACSAI-0-sem-4-AI-ML-ML-unit-2\13f11f40-7bf3-4475-bdab-4aadda964c01\scratchpad\shots\12-dashboard-men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1353312"/>
            <a:ext cx="2057400" cy="4572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A1B2E">
                <a:alpha val="22000"/>
              </a:srgbClr>
            </a:outerShdw>
          </a:effectLst>
        </p:spPr>
      </p:pic>
      <p:sp>
        <p:nvSpPr>
          <p:cNvPr id="18" name="Text 12"/>
          <p:cNvSpPr txBox="1"/>
          <p:nvPr/>
        </p:nvSpPr>
        <p:spPr>
          <a:xfrm>
            <a:off x="9121140" y="6236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menu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9011412" y="649224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hours lives here — it is per person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926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is the screen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786384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Yours, Others, Done — grouped by whose it is, not by status. Overdue is amber, never red.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54380" y="1188720"/>
            <a:ext cx="2286000" cy="4937760"/>
          </a:xfrm>
          <a:prstGeom prst="roundRect">
            <a:avLst>
              <a:gd name="adj" fmla="val 4800"/>
            </a:avLst>
          </a:prstGeom>
          <a:solidFill>
            <a:srgbClr val="F4F5FA"/>
          </a:solidFill>
          <a:ln w="12700">
            <a:solidFill>
              <a:srgbClr val="E4E6F0"/>
            </a:solidFill>
            <a:prstDash val="solid"/>
          </a:ln>
        </p:spPr>
      </p:sp>
      <p:pic>
        <p:nvPicPr>
          <p:cNvPr id="5" name="Image 0" descr="C:\Users\babak\AppData\Local\Temp\claude\D--0A-study-A0-0-ACSAI-0-sem-4-AI-ML-ML-unit-2\13f11f40-7bf3-4475-bdab-4aadda964c01\scratchpad\shots\04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53312"/>
            <a:ext cx="2057400" cy="4572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A1B2E">
                <a:alpha val="22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754380" y="6236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4652" y="649224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overdue row in amber; done rows sink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43300" y="1188720"/>
            <a:ext cx="2286000" cy="4937760"/>
          </a:xfrm>
          <a:prstGeom prst="roundRect">
            <a:avLst>
              <a:gd name="adj" fmla="val 4800"/>
            </a:avLst>
          </a:prstGeom>
          <a:solidFill>
            <a:srgbClr val="F4F5FA"/>
          </a:solidFill>
          <a:ln w="12700">
            <a:solidFill>
              <a:srgbClr val="E4E6F0"/>
            </a:solidFill>
            <a:prstDash val="solid"/>
          </a:ln>
        </p:spPr>
      </p:sp>
      <p:pic>
        <p:nvPicPr>
          <p:cNvPr id="9" name="Image 1" descr="C:\Users\babak\AppData\Local\Temp\claude\D--0A-study-A0-0-ACSAI-0-sem-4-AI-ML-ML-unit-2\13f11f40-7bf3-4475-bdab-4aadda964c01\scratchpad\shots\05-occurrence-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53312"/>
            <a:ext cx="2057400" cy="4572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A1B2E">
                <a:alpha val="22000"/>
              </a:srgbClr>
            </a:outerShdw>
          </a:effectLst>
        </p:spPr>
      </p:pic>
      <p:sp>
        <p:nvSpPr>
          <p:cNvPr id="10" name="Text 6"/>
          <p:cNvSpPr txBox="1"/>
          <p:nvPr/>
        </p:nvSpPr>
        <p:spPr>
          <a:xfrm>
            <a:off x="3543300" y="6236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chore, opened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433572" y="649224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done-line, the schedule, whose turn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332220" y="1188720"/>
            <a:ext cx="2286000" cy="4937760"/>
          </a:xfrm>
          <a:prstGeom prst="roundRect">
            <a:avLst>
              <a:gd name="adj" fmla="val 4800"/>
            </a:avLst>
          </a:prstGeom>
          <a:solidFill>
            <a:srgbClr val="F4F5FA"/>
          </a:solidFill>
          <a:ln w="12700">
            <a:solidFill>
              <a:srgbClr val="E4E6F0"/>
            </a:solidFill>
            <a:prstDash val="solid"/>
          </a:ln>
        </p:spPr>
      </p:sp>
      <p:pic>
        <p:nvPicPr>
          <p:cNvPr id="13" name="Image 2" descr="C:\Users\babak\AppData\Local\Temp\claude\D--0A-study-A0-0-ACSAI-0-sem-4-AI-ML-ML-unit-2\13f11f40-7bf3-4475-bdab-4aadda964c01\scratchpad\shots\07-create-repea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53312"/>
            <a:ext cx="2057400" cy="4572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A1B2E">
                <a:alpha val="22000"/>
              </a:srgbClr>
            </a:outerShdw>
          </a:effectLst>
        </p:spPr>
      </p:pic>
      <p:sp>
        <p:nvSpPr>
          <p:cNvPr id="14" name="Text 9"/>
          <p:cNvSpPr txBox="1"/>
          <p:nvPr/>
        </p:nvSpPr>
        <p:spPr>
          <a:xfrm>
            <a:off x="6332220" y="6236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— repeats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222492" y="649224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rotation order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9121140" y="1188720"/>
            <a:ext cx="2286000" cy="4937760"/>
          </a:xfrm>
          <a:prstGeom prst="roundRect">
            <a:avLst>
              <a:gd name="adj" fmla="val 4800"/>
            </a:avLst>
          </a:prstGeom>
          <a:solidFill>
            <a:srgbClr val="F4F5FA"/>
          </a:solidFill>
          <a:ln w="12700">
            <a:solidFill>
              <a:srgbClr val="E4E6F0"/>
            </a:solidFill>
            <a:prstDash val="solid"/>
          </a:ln>
        </p:spPr>
      </p:sp>
      <p:pic>
        <p:nvPicPr>
          <p:cNvPr id="17" name="Image 3" descr="C:\Users\babak\AppData\Local\Temp\claude\D--0A-study-A0-0-ACSAI-0-sem-4-AI-ML-ML-unit-2\13f11f40-7bf3-4475-bdab-4aadda964c01\scratchpad\shots\08-create-oneti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1353312"/>
            <a:ext cx="2057400" cy="4572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A1B2E">
                <a:alpha val="22000"/>
              </a:srgbClr>
            </a:outerShdw>
          </a:effectLst>
        </p:spPr>
      </p:pic>
      <p:sp>
        <p:nvSpPr>
          <p:cNvPr id="18" name="Text 12"/>
          <p:cNvSpPr txBox="1"/>
          <p:nvPr/>
        </p:nvSpPr>
        <p:spPr>
          <a:xfrm>
            <a:off x="9121140" y="6236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— one time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9011412" y="649224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form, one question decides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926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Busy, away, and whose turn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786384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two exits from an assigned chore besides doing it. Neither cancels the turn you owe.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54380" y="1188720"/>
            <a:ext cx="2286000" cy="4937760"/>
          </a:xfrm>
          <a:prstGeom prst="roundRect">
            <a:avLst>
              <a:gd name="adj" fmla="val 4800"/>
            </a:avLst>
          </a:prstGeom>
          <a:solidFill>
            <a:srgbClr val="F4F5FA"/>
          </a:solidFill>
          <a:ln w="12700">
            <a:solidFill>
              <a:srgbClr val="E4E6F0"/>
            </a:solidFill>
            <a:prstDash val="solid"/>
          </a:ln>
        </p:spPr>
      </p:sp>
      <p:pic>
        <p:nvPicPr>
          <p:cNvPr id="5" name="Image 0" descr="C:\Users\babak\AppData\Local\Temp\claude\D--0A-study-A0-0-ACSAI-0-sem-4-AI-ML-ML-unit-2\13f11f40-7bf3-4475-bdab-4aadda964c01\scratchpad\shots\14-away-di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53312"/>
            <a:ext cx="2057400" cy="4572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A1B2E">
                <a:alpha val="22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754380" y="6236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away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4652" y="649224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the rule before you commit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43300" y="1188720"/>
            <a:ext cx="2286000" cy="4937760"/>
          </a:xfrm>
          <a:prstGeom prst="roundRect">
            <a:avLst>
              <a:gd name="adj" fmla="val 4800"/>
            </a:avLst>
          </a:prstGeom>
          <a:solidFill>
            <a:srgbClr val="F4F5FA"/>
          </a:solidFill>
          <a:ln w="12700">
            <a:solidFill>
              <a:srgbClr val="E4E6F0"/>
            </a:solidFill>
            <a:prstDash val="solid"/>
          </a:ln>
        </p:spPr>
      </p:sp>
      <p:pic>
        <p:nvPicPr>
          <p:cNvPr id="9" name="Image 1" descr="C:\Users\babak\AppData\Local\Temp\claude\D--0A-study-A0-0-ACSAI-0-sem-4-AI-ML-ML-unit-2\13f11f40-7bf3-4475-bdab-4aadda964c01\scratchpad\shots\15-away-ban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53312"/>
            <a:ext cx="2057400" cy="4572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A1B2E">
                <a:alpha val="22000"/>
              </a:srgbClr>
            </a:outerShdw>
          </a:effectLst>
        </p:spPr>
      </p:pic>
      <p:sp>
        <p:nvSpPr>
          <p:cNvPr id="10" name="Text 6"/>
          <p:cNvSpPr txBox="1"/>
          <p:nvPr/>
        </p:nvSpPr>
        <p:spPr>
          <a:xfrm>
            <a:off x="3543300" y="6236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you are away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433572" y="649224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on your own board, with a way back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332220" y="1188720"/>
            <a:ext cx="2286000" cy="4937760"/>
          </a:xfrm>
          <a:prstGeom prst="roundRect">
            <a:avLst>
              <a:gd name="adj" fmla="val 4800"/>
            </a:avLst>
          </a:prstGeom>
          <a:solidFill>
            <a:srgbClr val="F4F5FA"/>
          </a:solidFill>
          <a:ln w="12700">
            <a:solidFill>
              <a:srgbClr val="E4E6F0"/>
            </a:solidFill>
            <a:prstDash val="solid"/>
          </a:ln>
        </p:spPr>
      </p:sp>
      <p:pic>
        <p:nvPicPr>
          <p:cNvPr id="13" name="Image 2" descr="C:\Users\babak\AppData\Local\Temp\claude\D--0A-study-A0-0-ACSAI-0-sem-4-AI-ML-ML-unit-2\13f11f40-7bf3-4475-bdab-4aadda964c01\scratchpad\shots\16-after-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53312"/>
            <a:ext cx="2057400" cy="4572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A1B2E">
                <a:alpha val="22000"/>
              </a:srgbClr>
            </a:outerShdw>
          </a:effectLst>
        </p:spPr>
      </p:pic>
      <p:sp>
        <p:nvSpPr>
          <p:cNvPr id="14" name="Text 9"/>
          <p:cNvSpPr txBox="1"/>
          <p:nvPr/>
        </p:nvSpPr>
        <p:spPr>
          <a:xfrm>
            <a:off x="6332220" y="6236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busy pass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222492" y="649224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moves on; it comes back to you next cycle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9121140" y="1188720"/>
            <a:ext cx="2286000" cy="4937760"/>
          </a:xfrm>
          <a:prstGeom prst="roundRect">
            <a:avLst>
              <a:gd name="adj" fmla="val 4800"/>
            </a:avLst>
          </a:prstGeom>
          <a:solidFill>
            <a:srgbClr val="F4F5FA"/>
          </a:solidFill>
          <a:ln w="12700">
            <a:solidFill>
              <a:srgbClr val="E4E6F0"/>
            </a:solidFill>
            <a:prstDash val="solid"/>
          </a:ln>
        </p:spPr>
      </p:sp>
      <p:pic>
        <p:nvPicPr>
          <p:cNvPr id="17" name="Image 3" descr="C:\Users\babak\AppData\Local\Temp\claude\D--0A-study-A0-0-ACSAI-0-sem-4-AI-ML-ML-unit-2\13f11f40-7bf3-4475-bdab-4aadda964c01\scratchpad\shots\09-memb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1353312"/>
            <a:ext cx="2057400" cy="4572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A1B2E">
                <a:alpha val="22000"/>
              </a:srgbClr>
            </a:outerShdw>
          </a:effectLst>
        </p:spPr>
      </p:pic>
      <p:sp>
        <p:nvSpPr>
          <p:cNvPr id="18" name="Text 12"/>
          <p:cNvSpPr txBox="1"/>
          <p:nvPr/>
        </p:nvSpPr>
        <p:spPr>
          <a:xfrm>
            <a:off x="9121140" y="6236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household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9011412" y="649224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is shown, never hidden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926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happened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786384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the household can point at. It counts, it does not rank, and it names no one as late.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54380" y="1188720"/>
            <a:ext cx="2286000" cy="4937760"/>
          </a:xfrm>
          <a:prstGeom prst="roundRect">
            <a:avLst>
              <a:gd name="adj" fmla="val 4800"/>
            </a:avLst>
          </a:prstGeom>
          <a:solidFill>
            <a:srgbClr val="F4F5FA"/>
          </a:solidFill>
          <a:ln w="12700">
            <a:solidFill>
              <a:srgbClr val="E4E6F0"/>
            </a:solidFill>
            <a:prstDash val="solid"/>
          </a:ln>
        </p:spPr>
      </p:sp>
      <p:pic>
        <p:nvPicPr>
          <p:cNvPr id="5" name="Image 0" descr="C:\Users\babak\AppData\Local\Temp\claude\D--0A-study-A0-0-ACSAI-0-sem-4-AI-ML-ML-unit-2\13f11f40-7bf3-4475-bdab-4aadda964c01\scratchpad\shots\06-chore-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53312"/>
            <a:ext cx="2057400" cy="4572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A1B2E">
                <a:alpha val="22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754380" y="6236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chore's history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4652" y="649224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dates, no verdict on either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43300" y="1188720"/>
            <a:ext cx="2286000" cy="4937760"/>
          </a:xfrm>
          <a:prstGeom prst="roundRect">
            <a:avLst>
              <a:gd name="adj" fmla="val 4800"/>
            </a:avLst>
          </a:prstGeom>
          <a:solidFill>
            <a:srgbClr val="F4F5FA"/>
          </a:solidFill>
          <a:ln w="12700">
            <a:solidFill>
              <a:srgbClr val="E4E6F0"/>
            </a:solidFill>
            <a:prstDash val="solid"/>
          </a:ln>
        </p:spPr>
      </p:sp>
      <p:pic>
        <p:nvPicPr>
          <p:cNvPr id="9" name="Image 1" descr="C:\Users\babak\AppData\Local\Temp\claude\D--0A-study-A0-0-ACSAI-0-sem-4-AI-ML-ML-unit-2\13f11f40-7bf3-4475-bdab-4aadda964c01\scratchpad\shots\11-group-his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53312"/>
            <a:ext cx="2057400" cy="4572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A1B2E">
                <a:alpha val="22000"/>
              </a:srgbClr>
            </a:outerShdw>
          </a:effectLst>
        </p:spPr>
      </p:pic>
      <p:sp>
        <p:nvSpPr>
          <p:cNvPr id="10" name="Text 6"/>
          <p:cNvSpPr txBox="1"/>
          <p:nvPr/>
        </p:nvSpPr>
        <p:spPr>
          <a:xfrm>
            <a:off x="3543300" y="6236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done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433572" y="649224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order, zeroes included, days away noted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332220" y="1188720"/>
            <a:ext cx="2286000" cy="4937760"/>
          </a:xfrm>
          <a:prstGeom prst="roundRect">
            <a:avLst>
              <a:gd name="adj" fmla="val 4800"/>
            </a:avLst>
          </a:prstGeom>
          <a:solidFill>
            <a:srgbClr val="F4F5FA"/>
          </a:solidFill>
          <a:ln w="12700">
            <a:solidFill>
              <a:srgbClr val="E4E6F0"/>
            </a:solidFill>
            <a:prstDash val="solid"/>
          </a:ln>
        </p:spPr>
      </p:sp>
      <p:pic>
        <p:nvPicPr>
          <p:cNvPr id="13" name="Image 2" descr="C:\Users\babak\AppData\Local\Temp\claude\D--0A-study-A0-0-ACSAI-0-sem-4-AI-ML-ML-unit-2\13f11f40-7bf3-4475-bdab-4aadda964c01\scratchpad\shots\10-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53312"/>
            <a:ext cx="2057400" cy="4572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A1B2E">
                <a:alpha val="22000"/>
              </a:srgbClr>
            </a:outerShdw>
          </a:effectLst>
        </p:spPr>
      </p:pic>
      <p:sp>
        <p:nvSpPr>
          <p:cNvPr id="14" name="Text 9"/>
          <p:cNvSpPr txBox="1"/>
          <p:nvPr/>
        </p:nvSpPr>
        <p:spPr>
          <a:xfrm>
            <a:off x="6332220" y="6236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222492" y="649224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group-visible change, in words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9121140" y="1188720"/>
            <a:ext cx="2286000" cy="4937760"/>
          </a:xfrm>
          <a:prstGeom prst="roundRect">
            <a:avLst>
              <a:gd name="adj" fmla="val 4800"/>
            </a:avLst>
          </a:prstGeom>
          <a:solidFill>
            <a:srgbClr val="F4F5FA"/>
          </a:solidFill>
          <a:ln w="12700">
            <a:solidFill>
              <a:srgbClr val="E4E6F0"/>
            </a:solidFill>
            <a:prstDash val="solid"/>
          </a:ln>
        </p:spPr>
      </p:sp>
      <p:pic>
        <p:nvPicPr>
          <p:cNvPr id="17" name="Image 3" descr="C:\Users\babak\AppData\Local\Temp\claude\D--0A-study-A0-0-ACSAI-0-sem-4-AI-ML-ML-unit-2\13f11f40-7bf3-4475-bdab-4aadda964c01\scratchpad\shots\13-quiet-hou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1353312"/>
            <a:ext cx="2057400" cy="4572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A1B2E">
                <a:alpha val="22000"/>
              </a:srgbClr>
            </a:outerShdw>
          </a:effectLst>
        </p:spPr>
      </p:pic>
      <p:sp>
        <p:nvSpPr>
          <p:cNvPr id="18" name="Text 12"/>
          <p:cNvSpPr txBox="1"/>
          <p:nvPr/>
        </p:nvSpPr>
        <p:spPr>
          <a:xfrm>
            <a:off x="9121140" y="6236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hours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9011412" y="649224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Held, not dropped — nothing is lost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TaskFlow — screens from the built app</dc:title>
  <dc:subject>PptxGenJS Presentation</dc:subject>
  <dc:creator>TaskFlow</dc:creator>
  <cp:lastModifiedBy>TaskFlow</cp:lastModifiedBy>
  <cp:revision>1</cp:revision>
  <dcterms:created xsi:type="dcterms:W3CDTF">2026-09-02T12:41:49Z</dcterms:created>
  <dcterms:modified xsi:type="dcterms:W3CDTF">2026-09-02T12:41:49Z</dcterms:modified>
</cp:coreProperties>
</file>